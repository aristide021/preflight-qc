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e999d938db44fd" /><Relationship Type="http://schemas.openxmlformats.org/officeDocument/2006/relationships/extended-properties" Target="/docProps/app.xml" Id="R6cab87545ebc441b" /><Relationship Type="http://schemas.openxmlformats.org/officeDocument/2006/relationships/officeDocument" Target="/ppt/presentation.xml" Id="R45cfb8d56f1640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ea3535c7df4426"/>
  </p:sldMasterIdLst>
  <p:notesMasterIdLst>
    <p:notesMasterId xmlns:r="http://schemas.openxmlformats.org/officeDocument/2006/relationships" r:id="Rb97cfcdc8d8641bf"/>
  </p:notesMasterIdLst>
  <p:sldIdLst>
    <p:sldId xmlns:r="http://schemas.openxmlformats.org/officeDocument/2006/relationships" id="256" r:id="Re695dae8f96b4950"/>
    <p:sldId xmlns:r="http://schemas.openxmlformats.org/officeDocument/2006/relationships" id="257" r:id="Rac3fe593e3eb40d4"/>
    <p:sldId xmlns:r="http://schemas.openxmlformats.org/officeDocument/2006/relationships" id="258" r:id="R47bb5669bde242b9"/>
    <p:sldId xmlns:r="http://schemas.openxmlformats.org/officeDocument/2006/relationships" id="259" r:id="R229c6e8c8ef34b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929423b3744fb0" /><Relationship Type="http://schemas.openxmlformats.org/officeDocument/2006/relationships/slideMaster" Target="/ppt/slideMasters/slideMaster1.xml" Id="R27ea3535c7df4426" /><Relationship Type="http://schemas.openxmlformats.org/officeDocument/2006/relationships/notesMaster" Target="/ppt/notesMasters/notesMaster1.xml" Id="Rb97cfcdc8d8641bf" /><Relationship Type="http://schemas.openxmlformats.org/officeDocument/2006/relationships/presProps" Target="/ppt/presProps.xml" Id="R10f6c5aa850740f7" /><Relationship Type="http://schemas.openxmlformats.org/officeDocument/2006/relationships/tableStyles" Target="/ppt/tableStyles.xml" Id="R9602c1ecf81d4a96" /><Relationship Type="http://schemas.openxmlformats.org/officeDocument/2006/relationships/slide" Target="/ppt/slides/slide1.xml" Id="Re695dae8f96b4950" /><Relationship Type="http://schemas.openxmlformats.org/officeDocument/2006/relationships/slide" Target="/ppt/slides/slide2.xml" Id="Rac3fe593e3eb40d4" /><Relationship Type="http://schemas.openxmlformats.org/officeDocument/2006/relationships/slide" Target="/ppt/slides/slide3.xml" Id="R47bb5669bde242b9" /><Relationship Type="http://schemas.openxmlformats.org/officeDocument/2006/relationships/slide" Target="/ppt/slides/slide4.xml" Id="R229c6e8c8ef34b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de4a7623cf43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63c894a2ee414c" /><Relationship Type="http://schemas.openxmlformats.org/officeDocument/2006/relationships/notesMaster" Target="/ppt/notesMasters/notesMaster1.xml" Id="R813a922dfe8a4c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f898796fae4bb3" /><Relationship Type="http://schemas.openxmlformats.org/officeDocument/2006/relationships/notesMaster" Target="/ppt/notesMasters/notesMaster1.xml" Id="R337bd93fa3dd4c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f7f677f9a64460" /><Relationship Type="http://schemas.openxmlformats.org/officeDocument/2006/relationships/notesMaster" Target="/ppt/notesMasters/notesMaster1.xml" Id="R5c5a87faa87d4c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de8a623bc8497a" /><Relationship Type="http://schemas.openxmlformats.org/officeDocument/2006/relationships/notesMaster" Target="/ppt/notesMasters/notesMaster1.xml" Id="R097c69a8fbf047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16a43994449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279ea3f168497b" /><Relationship Type="http://schemas.openxmlformats.org/officeDocument/2006/relationships/slideLayout" Target="/ppt/slideLayouts/slideLayout1.xml" Id="Ra8c492df2d5244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c492df2d5244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85f1216334f9f" /><Relationship Type="http://schemas.openxmlformats.org/officeDocument/2006/relationships/notesSlide" Target="/ppt/notesSlides/notesSlide1.xml" Id="Rf0091175846145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54bd4041d4ce0" /><Relationship Type="http://schemas.openxmlformats.org/officeDocument/2006/relationships/notesSlide" Target="/ppt/notesSlides/notesSlide2.xml" Id="Rf2e29d65d5f446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d9c5fad384411" /><Relationship Type="http://schemas.openxmlformats.org/officeDocument/2006/relationships/notesSlide" Target="/ppt/notesSlides/notesSlide3.xml" Id="Rb55a8275be9d42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b03634f2c408d" /><Relationship Type="http://schemas.openxmlformats.org/officeDocument/2006/relationships/notesSlide" Target="/ppt/notesSlides/notesSlide4.xml" Id="R0eb560c62bb84f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B6B45-298B-4F31-9574-02962942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B1"/>
          </a:solidFill>
          <a:ln xmlns:a="http://schemas.openxmlformats.org/drawingml/2006/main" w="0">
            <a:solidFill>
              <a:srgbClr val="12B9B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FF3CF-0338-4367-9497-B8FB220F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158"/>
          </a:solidFill>
          <a:ln xmlns:a="http://schemas.openxmlformats.org/drawingml/2006/main" w="19050">
            <a:solidFill>
              <a:srgbClr val="0B315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4F4C6-A993-4037-9E8A-7B230934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28900"/>
            <a:ext cx="64770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FE22D-2F15-40D4-A3C6-D5C0283B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00325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12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2B9B1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2AF20-D73A-48B5-BC76-9B776D5E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385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9B1"/>
          </a:solidFill>
          <a:ln xmlns:a="http://schemas.openxmlformats.org/drawingml/2006/main" w="19050">
            <a:solidFill>
              <a:srgbClr val="0B31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2F05D-921F-45DF-86CF-497BC8F3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48025"/>
            <a:ext cx="447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5C551-170C-4E62-8B8B-74FB66C2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561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rPr>
              <a:t>PREFLIGHT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3134C-7A9B-43A5-899F-697FAED8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2B9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2B9B1"/>
                </a:solidFill>
                <a:latin typeface="Helvetica Neue"/>
                <a:ea typeface="Helvetica Neue"/>
                <a:cs typeface="Helvetica Neue"/>
              </a:rPr>
              <a:t>QC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A872B-786E-4997-A5EF-7AF9EE52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90875"/>
            <a:ext cx="833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rPr>
              <a:t>IMF DELIVERY  •  GROUNDED DECISIONS  •  AUDITABLE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65D2B-CBA2-48F5-A9CD-7F920D6B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053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rPr>
              <a:t>A decision layer after quality-control validation</a:t>
            </a:r>
          </a:p>
        </p:txBody>
      </p:sp>
    </p:spTree>
    <p:extLst>
      <p:ext uri="{BB962C8B-B14F-4D97-AF65-F5344CB8AC3E}">
        <p14:creationId xmlns:p14="http://schemas.microsoft.com/office/powerpoint/2010/main" val="6155381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6B47B7-2B1B-474A-85E8-0231F38B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B1"/>
          </a:solidFill>
          <a:ln xmlns:a="http://schemas.openxmlformats.org/drawingml/2006/main" w="0">
            <a:solidFill>
              <a:srgbClr val="12B9B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4CC21-0EFD-4BA1-BA6E-0D74C6E1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rPr>
              <a:t>Why IMF delivery needs a decision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62DE7-EDEF-4E98-A37D-5186B757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rPr>
              <a:t>One master can support many versions, which makes asset references critical.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62BDF-3885-404C-9064-E8601319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574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158"/>
          </a:solidFill>
          <a:ln xmlns:a="http://schemas.openxmlformats.org/drawingml/2006/main" w="19050">
            <a:solidFill>
              <a:srgbClr val="0B31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7D67E-A51F-4B59-9F55-675F9936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762250"/>
            <a:ext cx="158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SHARED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4DFF3-D72D-405B-BFB3-3B11BFD4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6E4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6E4EF"/>
                </a:solidFill>
                <a:latin typeface="Helvetica Neue"/>
                <a:ea typeface="Helvetica Neue"/>
                <a:cs typeface="Helvetica Neue"/>
              </a:rPr>
              <a:t>picture + audio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B8559-86EC-4B8D-9933-8C9702C1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14700"/>
            <a:ext cx="8382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B9B1"/>
          </a:solidFill>
          <a:ln xmlns:a="http://schemas.openxmlformats.org/drawingml/2006/main" w="0">
            <a:solidFill>
              <a:srgbClr val="12B9B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D4F95-87FD-4852-A8A9-86C7E5B9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2650"/>
            <a:ext cx="2857500" cy="26289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B9B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AB9EE-9F50-466F-ADE0-CF496B06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003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rPr>
              <a:t>IMF PACKAGE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29D24-C7C6-491F-BB8F-7B02C08D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05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rPr>
              <a:t>Composition Playlist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4B4EC-6F61-4A43-ABAE-04BB8D8B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147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rPr>
              <a:t>Packing List + AssetMap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9F932-81C7-4740-861B-41CC9FBF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24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rPr>
              <a:t>track files + metadata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8FDE1-78F6-4A48-A605-D7C53E00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14700"/>
            <a:ext cx="8382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B9B1"/>
          </a:solidFill>
          <a:ln xmlns:a="http://schemas.openxmlformats.org/drawingml/2006/main" w="0">
            <a:solidFill>
              <a:srgbClr val="12B9B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94747-B07C-40FD-BD87-2A108BAE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95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8F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8F8B"/>
                </a:solidFill>
                <a:latin typeface="Helvetica Neue"/>
                <a:ea typeface="Helvetica Neue"/>
                <a:cs typeface="Helvetica Neue"/>
              </a:rPr>
              <a:t>VERSIONS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C643B-F082-48D8-BB90-1477A48B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28900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9050">
            <a:solidFill>
              <a:srgbClr val="EDF4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467C9-09AD-4982-BBB7-B8E4192E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2415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rPr>
              <a:t>French audio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1A4A7-5579-470B-9D9E-919F38CB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09950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9050">
            <a:solidFill>
              <a:srgbClr val="EDF4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F1F61-2ABE-45BB-908E-CD53A535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052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rPr>
              <a:t>German subtitles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F33D8-6D62-48B4-9312-62B7CC26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91000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9050">
            <a:solidFill>
              <a:srgbClr val="EDF4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85BFC3-F0FD-4DFC-BAE2-892C085F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8625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rPr>
              <a:t>Territory edit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98BCA-D508-41B6-A8A1-0CFB2545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72125"/>
            <a:ext cx="87630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8F8F7"/>
          </a:solidFill>
          <a:ln xmlns:a="http://schemas.openxmlformats.org/drawingml/2006/main" w="19050">
            <a:solidFill>
              <a:srgbClr val="E8F8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0CE32-7D7B-49A5-B696-12BDAA53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57850"/>
            <a:ext cx="800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8F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78F8B"/>
                </a:solidFill>
                <a:latin typeface="Helvetica Neue"/>
                <a:ea typeface="Helvetica Neue"/>
                <a:cs typeface="Helvetica Neue"/>
              </a:rPr>
              <a:t>A broken reference can block an otherwise complete delivery.</a:t>
            </a:r>
          </a:p>
        </p:txBody>
      </p:sp>
    </p:spTree>
    <p:extLst>
      <p:ext uri="{BB962C8B-B14F-4D97-AF65-F5344CB8AC3E}">
        <p14:creationId xmlns:p14="http://schemas.microsoft.com/office/powerpoint/2010/main" val="10475895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7359CF-C71C-4181-8D4D-FEC5B549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B1"/>
          </a:solidFill>
          <a:ln xmlns:a="http://schemas.openxmlformats.org/drawingml/2006/main" w="0">
            <a:solidFill>
              <a:srgbClr val="12B9B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9F20C-B795-4A58-B650-77F5167E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rPr>
              <a:t>What happens while the analysis runs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1C58C-BB1A-486E-86C8-56227A45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28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rPr>
              <a:t>Four specialized agents turn validator findings into one operational recommendation.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BBA0B-642A-4375-A9EF-5E916D4E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14650"/>
            <a:ext cx="904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9E7"/>
          </a:solidFill>
          <a:ln xmlns:a="http://schemas.openxmlformats.org/drawingml/2006/main" w="0">
            <a:solidFill>
              <a:srgbClr val="C8D9E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0EE70-9ECE-4293-9F2E-FC63C65D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33625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158"/>
          </a:solidFill>
          <a:ln xmlns:a="http://schemas.openxmlformats.org/drawingml/2006/main" w="19050">
            <a:solidFill>
              <a:srgbClr val="0B31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9BEB6-0B40-4900-BF96-3CC3820C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55270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734FB-16FF-48A3-864B-803BF2C7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8290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rPr>
              <a:t>SPEC-READER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4F82D-2066-49F2-A584-DE860613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3053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rPr>
              <a:t>Grounds findings in</a:t>
            </a:r>
          </a:p>
          <a:p xmlns:a="http://schemas.openxmlformats.org/drawingml/2006/main">
            <a:pPr algn="ctr">
              <a:defRPr sz="14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rPr>
              <a:t>delivery requirements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71211-7801-43FF-B1E8-28DF4FA7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33625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158"/>
          </a:solidFill>
          <a:ln xmlns:a="http://schemas.openxmlformats.org/drawingml/2006/main" w="19050">
            <a:solidFill>
              <a:srgbClr val="0B31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FE106-42FF-4F0D-BD25-91E9034F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55270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4D11A-0B68-4FFD-A7D2-AFE345D7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290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rPr>
              <a:t>QC-ANALYST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8DFDD-AFCB-46F6-929B-CE9291CD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3053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rPr>
              <a:t>Queries ClickHouse history</a:t>
            </a:r>
          </a:p>
          <a:p xmlns:a="http://schemas.openxmlformats.org/drawingml/2006/main">
            <a:pPr algn="ctr">
              <a:defRPr sz="14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rPr>
              <a:t>through the MCP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4D16F-2E4F-4C1E-A185-CDDB2EDA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33625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158"/>
          </a:solidFill>
          <a:ln xmlns:a="http://schemas.openxmlformats.org/drawingml/2006/main" w="19050">
            <a:solidFill>
              <a:srgbClr val="0B31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1DC40-9BD5-4A85-80E8-BD6561D8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55270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CB794-D228-4A7E-906E-B6A97256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8290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rPr>
              <a:t>ORCHESTRATOR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58BCF-11BF-4128-890F-41039365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3053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rPr>
              <a:t>Combines evidence and</a:t>
            </a:r>
          </a:p>
          <a:p xmlns:a="http://schemas.openxmlformats.org/drawingml/2006/main">
            <a:pPr algn="ctr">
              <a:defRPr sz="14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rPr>
              <a:t>historical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41024-4092-4395-A09C-2E495A30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33625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158"/>
          </a:solidFill>
          <a:ln xmlns:a="http://schemas.openxmlformats.org/drawingml/2006/main" w="19050">
            <a:solidFill>
              <a:srgbClr val="0B31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D3BF10-8692-497C-9218-11F34858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55270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974E1-F396-4A57-A1E6-BD83544A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8290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rPr>
              <a:t>ACTION 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0AAB47-86D7-41FC-84A8-74D52F6A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3053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rPr>
              <a:t>Records the redelivery</a:t>
            </a:r>
          </a:p>
          <a:p xmlns:a="http://schemas.openxmlformats.org/drawingml/2006/main">
            <a:pPr algn="ctr">
              <a:defRPr sz="14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rPr>
              <a:t>decision in ClickHouse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21A28-DA31-4F53-900C-E784E401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1025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8F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8F8B"/>
                </a:solidFill>
                <a:latin typeface="Helvetica Neue"/>
                <a:ea typeface="Helvetica Neue"/>
                <a:cs typeface="Helvetica Neue"/>
              </a:rPr>
              <a:t>Gemini explains the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C9C561-0AC7-4270-B2B7-0804C5F1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81025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8F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8F8B"/>
                </a:solidFill>
                <a:latin typeface="Helvetica Neue"/>
                <a:ea typeface="Helvetica Neue"/>
                <a:cs typeface="Helvetica Neue"/>
              </a:rPr>
              <a:t>Deterministic code calculates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4D75BD-6A66-42C8-8EEF-FFD3CDBB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81025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8F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8F8B"/>
                </a:solidFill>
                <a:latin typeface="Helvetica Neue"/>
                <a:ea typeface="Helvetica Neue"/>
                <a:cs typeface="Helvetica Neue"/>
              </a:rPr>
              <a:t>ClickHouse preserves the history</a:t>
            </a:r>
          </a:p>
        </p:txBody>
      </p:sp>
    </p:spTree>
    <p:extLst>
      <p:ext uri="{BB962C8B-B14F-4D97-AF65-F5344CB8AC3E}">
        <p14:creationId xmlns:p14="http://schemas.microsoft.com/office/powerpoint/2010/main" val="19438253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1D2F6E-BEF0-467B-9407-503C8F4F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B1"/>
          </a:solidFill>
          <a:ln xmlns:a="http://schemas.openxmlformats.org/drawingml/2006/main" w="0">
            <a:solidFill>
              <a:srgbClr val="12B9B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95957-BAB9-4ED1-B2C1-27E36D0A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rPr>
              <a:t>From validator findings to the next safe attempt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763B1-2D87-48F4-8403-922047F1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rPr>
              <a:t>PreFlight QC turns technical output into a decision a delivery team can act 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3BB0C-731C-4A92-BFFF-C1A6871C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8F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8F8B"/>
                </a:solidFill>
                <a:latin typeface="Helvetica Neue"/>
                <a:ea typeface="Helvetica Neue"/>
                <a:cs typeface="Helvetica Neue"/>
              </a:rPr>
              <a:t>VALIDATOR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17F3B-14B5-4747-8C20-01295FDE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rPr>
              <a:t>IMF_MASTER_PACKAGE_ERROR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832B7-4102-4A11-B17C-42B7A502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rPr>
              <a:t>Referenced track is unavailable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2954D-645C-4472-AF05-622B223A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rPr>
              <a:t>IMF_PKL_ERROR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A6158-DEA6-488E-BA3A-3F97367C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rPr>
              <a:t>Asset path cannot be resolved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892F9-2E49-44A8-B4EC-CAC724C7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71850"/>
            <a:ext cx="90487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B9B1"/>
          </a:solidFill>
          <a:ln xmlns:a="http://schemas.openxmlformats.org/drawingml/2006/main" w="0">
            <a:solidFill>
              <a:srgbClr val="12B9B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83A31-76DF-45DD-9A19-127D83E4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52650"/>
            <a:ext cx="285750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3158"/>
          </a:solidFill>
          <a:ln xmlns:a="http://schemas.openxmlformats.org/drawingml/2006/main" w="19050">
            <a:solidFill>
              <a:srgbClr val="0B31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8DA96-E699-413F-B585-7023E1C4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57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PACKAGE BLOCKED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DF6C0-3A3D-4F12-ADFF-B5FA2EE6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09925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DEA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DEAF4"/>
                </a:solidFill>
                <a:latin typeface="Helvetica Neue"/>
                <a:ea typeface="Helvetica Neue"/>
                <a:cs typeface="Helvetica Neue"/>
              </a:rPr>
              <a:t>Repair the package reference</a:t>
            </a:r>
          </a:p>
          <a:p xmlns:a="http://schemas.openxmlformats.org/drawingml/2006/main">
            <a:pPr algn="ctr">
              <a:defRPr sz="1650" b="0">
                <a:solidFill>
                  <a:srgbClr val="DDEA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DEAF4"/>
                </a:solidFill>
                <a:latin typeface="Helvetica Neue"/>
                <a:ea typeface="Helvetica Neue"/>
                <a:cs typeface="Helvetica Neue"/>
              </a:rPr>
              <a:t>and rerun validation.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D82ED-3B45-4027-956A-7ADE8C54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EDC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EDCD8"/>
                </a:solidFill>
                <a:latin typeface="Helvetica Neue"/>
                <a:ea typeface="Helvetica Neue"/>
                <a:cs typeface="Helvetica Neue"/>
              </a:rPr>
              <a:t>Do not assume the master</a:t>
            </a:r>
          </a:p>
          <a:p xmlns:a="http://schemas.openxmlformats.org/drawingml/2006/main">
            <a:pPr algn="ctr">
              <a:defRPr sz="1425" b="1">
                <a:solidFill>
                  <a:srgbClr val="9EDC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EDCD8"/>
                </a:solidFill>
                <a:latin typeface="Helvetica Neue"/>
                <a:ea typeface="Helvetica Neue"/>
                <a:cs typeface="Helvetica Neue"/>
              </a:rPr>
              <a:t>needs to be rerendered.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52C0B-535A-446D-853E-B66134FF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71850"/>
            <a:ext cx="90487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B9B1"/>
          </a:solidFill>
          <a:ln xmlns:a="http://schemas.openxmlformats.org/drawingml/2006/main" w="0">
            <a:solidFill>
              <a:srgbClr val="12B9B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A66A7-D44A-4A78-A992-EFF5F11A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8F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8F8B"/>
                </a:solidFill>
                <a:latin typeface="Helvetica Neue"/>
                <a:ea typeface="Helvetica Neue"/>
                <a:cs typeface="Helvetica Neue"/>
              </a:rPr>
              <a:t>AUDIT RECORD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821D8-5D61-4152-98B0-681497CD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003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8F7"/>
          </a:solidFill>
          <a:ln xmlns:a="http://schemas.openxmlformats.org/drawingml/2006/main" w="19050">
            <a:solidFill>
              <a:srgbClr val="12B9B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F2058-5018-4712-9DC0-AD1DC980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95275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78F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8F8B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71F40-9120-4760-8E47-3934F100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957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3158"/>
                </a:solidFill>
                <a:latin typeface="Helvetica Neue"/>
                <a:ea typeface="Helvetica Neue"/>
                <a:cs typeface="Helvetica Neue"/>
              </a:rPr>
              <a:t>Decision saved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9273B0-06E8-4825-AEE9-9886248D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958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718C"/>
                </a:solidFill>
                <a:latin typeface="Helvetica Neue"/>
                <a:ea typeface="Helvetica Neue"/>
                <a:cs typeface="Helvetica Neue"/>
              </a:rPr>
              <a:t>Next attempt tracked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88EB82-26AF-4698-BCA0-6EF4E95C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15000"/>
            <a:ext cx="8763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8F8F7"/>
          </a:solidFill>
          <a:ln xmlns:a="http://schemas.openxmlformats.org/drawingml/2006/main" w="19050">
            <a:solidFill>
              <a:srgbClr val="E8F8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1D6D5-04D0-4922-B4C0-098E67FE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00725"/>
            <a:ext cx="8153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8F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8F8B"/>
                </a:solidFill>
                <a:latin typeface="Helvetica Neue"/>
                <a:ea typeface="Helvetica Neue"/>
                <a:cs typeface="Helvetica Neue"/>
              </a:rPr>
              <a:t>A grounded decision, a practical fix, and a record of what happens next.</a:t>
            </a:r>
          </a:p>
        </p:txBody>
      </p:sp>
    </p:spTree>
    <p:extLst>
      <p:ext uri="{BB962C8B-B14F-4D97-AF65-F5344CB8AC3E}">
        <p14:creationId xmlns:p14="http://schemas.microsoft.com/office/powerpoint/2010/main" val="2066785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2026-09-09T20:12:08.7490000Z</dcterms:created>
  <dcterms:modified xsi:type="dcterms:W3CDTF">2026-09-09T20:12:08.7490000Z</dcterms:modified>
</coreProperties>
</file>